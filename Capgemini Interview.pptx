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519d3be6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519d3be6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application follows a clean layered architecture. A simple HTML interface communicates with a Spring Boot REST API. The controller layer handles requests, the service layer contains the business logic, and all expense data is stored in memory using an ArrayList. This keeps the design simple and easy to extend.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519d3be6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b519d3be6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codebase is organized by responsibility. The controller exposes REST endpoints such as POST to add an expense, GET to retrieve all expense or a specific one by id, PUT to update an existing expense, and DELETE to delete an expense, the service layer handles calculations and data management to display trends such as highest and lowest spending categories, and the model represents an expense. The frontend is a simple static HTML file, and sample data is provided through a CSV file.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b519d3be68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b519d3be68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application can be built and run using Maven. Once started, the UI is available on localhost. Functionality was verified by adding, editing, and deleting expenses and confirming that all statistics update correctly. API endpoints can also be tested directly using tools like curl or Postman.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b519d3be68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b519d3be68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To make testing easier and to demonstrate the application’s functionality right away, I added support for seed data. When the application starts, it automatically looks for a CSV file located at data/expenses.csv. If the file exists, the application parses each record and loads the expenses into memory. If the file doesn’t exist, the application simply starts with an empty expense list without failing. Once the app is shut down, the RAM will be cleared, and so I did consider saving any new record to the expenses.csv, but I realized that would pose a security risk </a:t>
            </a:r>
            <a:r>
              <a:rPr lang="en">
                <a:solidFill>
                  <a:schemeClr val="dk1"/>
                </a:solidFill>
              </a:rPr>
              <a:t>since anyone could add, modify, or delete expenses, and a malicious user could alter totals or statistics, thus leading to compromised business data integrity.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519d3be68_2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519d3be68_2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5818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lt1"/>
                </a:solidFill>
              </a:rPr>
              <a:t>Simple Expense Tracker Application</a:t>
            </a:r>
            <a:endParaRPr>
              <a:solidFill>
                <a:schemeClr val="lt1"/>
              </a:solidFill>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358"/>
              <a:buNone/>
            </a:pPr>
            <a:r>
              <a:rPr lang="en" sz="2010">
                <a:solidFill>
                  <a:schemeClr val="lt1"/>
                </a:solidFill>
              </a:rPr>
              <a:t>Expense tracking and analytics application</a:t>
            </a:r>
            <a:endParaRPr sz="2010">
              <a:solidFill>
                <a:schemeClr val="lt1"/>
              </a:solidFill>
            </a:endParaRPr>
          </a:p>
          <a:p>
            <a:pPr indent="0" lvl="0" marL="0" rtl="0" algn="ctr">
              <a:lnSpc>
                <a:spcPct val="80000"/>
              </a:lnSpc>
              <a:spcBef>
                <a:spcPts val="0"/>
              </a:spcBef>
              <a:spcAft>
                <a:spcPts val="0"/>
              </a:spcAft>
              <a:buSzPts val="358"/>
              <a:buNone/>
            </a:pPr>
            <a:r>
              <a:t/>
            </a:r>
            <a:endParaRPr sz="2010">
              <a:solidFill>
                <a:schemeClr val="lt1"/>
              </a:solidFill>
            </a:endParaRPr>
          </a:p>
          <a:p>
            <a:pPr indent="0" lvl="0" marL="0" rtl="0" algn="ctr">
              <a:lnSpc>
                <a:spcPct val="80000"/>
              </a:lnSpc>
              <a:spcBef>
                <a:spcPts val="0"/>
              </a:spcBef>
              <a:spcAft>
                <a:spcPts val="0"/>
              </a:spcAft>
              <a:buSzPts val="358"/>
              <a:buNone/>
            </a:pPr>
            <a:r>
              <a:rPr lang="en" sz="2010">
                <a:solidFill>
                  <a:schemeClr val="lt1"/>
                </a:solidFill>
              </a:rPr>
              <a:t>Built using Java &amp; Spring Boot</a:t>
            </a:r>
            <a:endParaRPr sz="2010">
              <a:solidFill>
                <a:schemeClr val="lt1"/>
              </a:solidFill>
            </a:endParaRPr>
          </a:p>
          <a:p>
            <a:pPr indent="0" lvl="0" marL="0" rtl="0" algn="ctr">
              <a:lnSpc>
                <a:spcPct val="80000"/>
              </a:lnSpc>
              <a:spcBef>
                <a:spcPts val="0"/>
              </a:spcBef>
              <a:spcAft>
                <a:spcPts val="0"/>
              </a:spcAft>
              <a:buSzPts val="358"/>
              <a:buNone/>
            </a:pPr>
            <a:r>
              <a:t/>
            </a:r>
            <a:endParaRPr sz="2010">
              <a:solidFill>
                <a:schemeClr val="lt1"/>
              </a:solidFill>
            </a:endParaRPr>
          </a:p>
          <a:p>
            <a:pPr indent="0" lvl="0" marL="0" rtl="0" algn="ctr">
              <a:lnSpc>
                <a:spcPct val="80000"/>
              </a:lnSpc>
              <a:spcBef>
                <a:spcPts val="0"/>
              </a:spcBef>
              <a:spcAft>
                <a:spcPts val="0"/>
              </a:spcAft>
              <a:buSzPts val="358"/>
              <a:buNone/>
            </a:pPr>
            <a:r>
              <a:rPr lang="en" sz="2010">
                <a:solidFill>
                  <a:schemeClr val="lt1"/>
                </a:solidFill>
              </a:rPr>
              <a:t>In-memory data storage (no database)</a:t>
            </a:r>
            <a:endParaRPr sz="201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D</a:t>
            </a:r>
            <a:r>
              <a:rPr lang="en">
                <a:solidFill>
                  <a:schemeClr val="lt1"/>
                </a:solidFill>
              </a:rPr>
              <a:t>esign &amp; Architecture</a:t>
            </a:r>
            <a:endParaRPr>
              <a:solidFill>
                <a:schemeClr val="lt1"/>
              </a:solidFill>
            </a:endParaRPr>
          </a:p>
        </p:txBody>
      </p:sp>
      <p:sp>
        <p:nvSpPr>
          <p:cNvPr id="61" name="Google Shape;61;p14"/>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Lightweight Spring Boot application</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Main Application</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Controller</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Service</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Data</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REST-based backend</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Simple HTML frontend</a:t>
            </a:r>
            <a:endParaRPr>
              <a:solidFill>
                <a:schemeClr val="lt1"/>
              </a:solidFill>
            </a:endParaRPr>
          </a:p>
        </p:txBody>
      </p:sp>
      <p:pic>
        <p:nvPicPr>
          <p:cNvPr id="62" name="Google Shape;62;p14"/>
          <p:cNvPicPr preferRelativeResize="0"/>
          <p:nvPr/>
        </p:nvPicPr>
        <p:blipFill rotWithShape="1">
          <a:blip r:embed="rId3">
            <a:alphaModFix/>
          </a:blip>
          <a:srcRect b="0" l="0" r="0" t="0"/>
          <a:stretch/>
        </p:blipFill>
        <p:spPr>
          <a:xfrm>
            <a:off x="4572000" y="781050"/>
            <a:ext cx="4057650" cy="35814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Key Files</a:t>
            </a:r>
            <a:endParaRPr>
              <a:solidFill>
                <a:schemeClr val="lt1"/>
              </a:solidFill>
            </a:endParaRPr>
          </a:p>
        </p:txBody>
      </p:sp>
      <p:sp>
        <p:nvSpPr>
          <p:cNvPr id="68" name="Google Shape;68;p15"/>
          <p:cNvSpPr txBox="1"/>
          <p:nvPr>
            <p:ph idx="1" type="body"/>
          </p:nvPr>
        </p:nvSpPr>
        <p:spPr>
          <a:xfrm>
            <a:off x="311700" y="1017725"/>
            <a:ext cx="4602000" cy="367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lt1"/>
                </a:solidFill>
              </a:rPr>
              <a:t>ExpenseTrackerApplication.java</a:t>
            </a:r>
            <a:r>
              <a:rPr lang="en" sz="1100">
                <a:solidFill>
                  <a:schemeClr val="lt1"/>
                </a:solidFill>
              </a:rPr>
              <a:t>: Main Spring Boot application class, Entry point that starts the server</a:t>
            </a:r>
            <a:endParaRPr sz="1100">
              <a:solidFill>
                <a:schemeClr val="lt1"/>
              </a:solidFill>
            </a:endParaRPr>
          </a:p>
          <a:p>
            <a:pPr indent="0" lvl="0" marL="0" rtl="0" algn="l">
              <a:spcBef>
                <a:spcPts val="1200"/>
              </a:spcBef>
              <a:spcAft>
                <a:spcPts val="0"/>
              </a:spcAft>
              <a:buNone/>
            </a:pPr>
            <a:r>
              <a:rPr b="1" lang="en" sz="1100">
                <a:solidFill>
                  <a:schemeClr val="lt1"/>
                </a:solidFill>
              </a:rPr>
              <a:t>ExpenseService.java</a:t>
            </a:r>
            <a:r>
              <a:rPr lang="en" sz="1100">
                <a:solidFill>
                  <a:schemeClr val="lt1"/>
                </a:solidFill>
              </a:rPr>
              <a:t>: Core business logic, CRUD operations for expenses, Statistics calculations (total, by category, highest/lowest), Seed data loading</a:t>
            </a:r>
            <a:endParaRPr sz="1100">
              <a:solidFill>
                <a:schemeClr val="lt1"/>
              </a:solidFill>
            </a:endParaRPr>
          </a:p>
          <a:p>
            <a:pPr indent="0" lvl="0" marL="0" rtl="0" algn="l">
              <a:spcBef>
                <a:spcPts val="1200"/>
              </a:spcBef>
              <a:spcAft>
                <a:spcPts val="0"/>
              </a:spcAft>
              <a:buNone/>
            </a:pPr>
            <a:r>
              <a:rPr b="1" lang="en" sz="1100">
                <a:solidFill>
                  <a:schemeClr val="lt1"/>
                </a:solidFill>
              </a:rPr>
              <a:t>Expense.java</a:t>
            </a:r>
            <a:r>
              <a:rPr lang="en" sz="1100">
                <a:solidFill>
                  <a:schemeClr val="lt1"/>
                </a:solidFill>
              </a:rPr>
              <a:t>: Data model with fields: id, category, amount, date, description</a:t>
            </a:r>
            <a:endParaRPr sz="1100">
              <a:solidFill>
                <a:schemeClr val="lt1"/>
              </a:solidFill>
            </a:endParaRPr>
          </a:p>
          <a:p>
            <a:pPr indent="0" lvl="0" marL="0" rtl="0" algn="l">
              <a:spcBef>
                <a:spcPts val="1200"/>
              </a:spcBef>
              <a:spcAft>
                <a:spcPts val="0"/>
              </a:spcAft>
              <a:buNone/>
            </a:pPr>
            <a:r>
              <a:rPr b="1" lang="en" sz="1100">
                <a:solidFill>
                  <a:schemeClr val="lt1"/>
                </a:solidFill>
              </a:rPr>
              <a:t>Index.html</a:t>
            </a:r>
            <a:r>
              <a:rPr lang="en" sz="1100">
                <a:solidFill>
                  <a:schemeClr val="lt1"/>
                </a:solidFill>
              </a:rPr>
              <a:t>: Simple HTML form for adding expenses, Table displaying all expenses, Statistics display, Edit and delete functionality</a:t>
            </a:r>
            <a:endParaRPr sz="1100">
              <a:solidFill>
                <a:schemeClr val="lt1"/>
              </a:solidFill>
            </a:endParaRPr>
          </a:p>
          <a:p>
            <a:pPr indent="0" lvl="0" marL="0" rtl="0" algn="l">
              <a:spcBef>
                <a:spcPts val="1200"/>
              </a:spcBef>
              <a:spcAft>
                <a:spcPts val="0"/>
              </a:spcAft>
              <a:buNone/>
            </a:pPr>
            <a:r>
              <a:rPr b="1" lang="en" sz="1000">
                <a:solidFill>
                  <a:schemeClr val="lt1"/>
                </a:solidFill>
              </a:rPr>
              <a:t>ExpenseController.java: </a:t>
            </a:r>
            <a:r>
              <a:rPr lang="en" sz="1000">
                <a:solidFill>
                  <a:schemeClr val="lt1"/>
                </a:solidFill>
              </a:rPr>
              <a:t>REST API endpoints: </a:t>
            </a:r>
            <a:endParaRPr sz="1000">
              <a:solidFill>
                <a:schemeClr val="lt1"/>
              </a:solidFill>
            </a:endParaRPr>
          </a:p>
          <a:p>
            <a:pPr indent="-292100" lvl="0" marL="457200" rtl="0" algn="l">
              <a:spcBef>
                <a:spcPts val="1200"/>
              </a:spcBef>
              <a:spcAft>
                <a:spcPts val="0"/>
              </a:spcAft>
              <a:buClr>
                <a:schemeClr val="lt1"/>
              </a:buClr>
              <a:buSzPts val="1000"/>
              <a:buChar char="●"/>
            </a:pPr>
            <a:r>
              <a:rPr lang="en" sz="1000">
                <a:solidFill>
                  <a:schemeClr val="lt1"/>
                </a:solidFill>
              </a:rPr>
              <a:t>POST /api/expenses - Add expense, </a:t>
            </a:r>
            <a:endParaRPr sz="1000">
              <a:solidFill>
                <a:schemeClr val="lt1"/>
              </a:solidFill>
            </a:endParaRPr>
          </a:p>
          <a:p>
            <a:pPr indent="-292100" lvl="0" marL="457200" rtl="0" algn="l">
              <a:spcBef>
                <a:spcPts val="0"/>
              </a:spcBef>
              <a:spcAft>
                <a:spcPts val="0"/>
              </a:spcAft>
              <a:buClr>
                <a:schemeClr val="lt1"/>
              </a:buClr>
              <a:buSzPts val="1000"/>
              <a:buChar char="●"/>
            </a:pPr>
            <a:r>
              <a:rPr lang="en" sz="1000">
                <a:solidFill>
                  <a:schemeClr val="lt1"/>
                </a:solidFill>
              </a:rPr>
              <a:t>GET /api/expenses - Get all expenses, </a:t>
            </a:r>
            <a:endParaRPr sz="1000">
              <a:solidFill>
                <a:schemeClr val="lt1"/>
              </a:solidFill>
            </a:endParaRPr>
          </a:p>
          <a:p>
            <a:pPr indent="-292100" lvl="0" marL="457200" rtl="0" algn="l">
              <a:spcBef>
                <a:spcPts val="0"/>
              </a:spcBef>
              <a:spcAft>
                <a:spcPts val="0"/>
              </a:spcAft>
              <a:buClr>
                <a:schemeClr val="lt1"/>
              </a:buClr>
              <a:buSzPts val="1000"/>
              <a:buChar char="●"/>
            </a:pPr>
            <a:r>
              <a:rPr lang="en" sz="1000">
                <a:solidFill>
                  <a:schemeClr val="lt1"/>
                </a:solidFill>
              </a:rPr>
              <a:t>GET /api/expenses/{id} - Get expense by ID, </a:t>
            </a:r>
            <a:endParaRPr sz="1000">
              <a:solidFill>
                <a:schemeClr val="lt1"/>
              </a:solidFill>
            </a:endParaRPr>
          </a:p>
          <a:p>
            <a:pPr indent="-292100" lvl="0" marL="457200" rtl="0" algn="l">
              <a:spcBef>
                <a:spcPts val="0"/>
              </a:spcBef>
              <a:spcAft>
                <a:spcPts val="0"/>
              </a:spcAft>
              <a:buClr>
                <a:schemeClr val="lt1"/>
              </a:buClr>
              <a:buSzPts val="1000"/>
              <a:buChar char="●"/>
            </a:pPr>
            <a:r>
              <a:rPr lang="en" sz="1000">
                <a:solidFill>
                  <a:schemeClr val="lt1"/>
                </a:solidFill>
              </a:rPr>
              <a:t>PUT /api/expenses/{id} - Update expense, </a:t>
            </a:r>
            <a:endParaRPr sz="1000">
              <a:solidFill>
                <a:schemeClr val="lt1"/>
              </a:solidFill>
            </a:endParaRPr>
          </a:p>
          <a:p>
            <a:pPr indent="-292100" lvl="0" marL="457200" rtl="0" algn="l">
              <a:spcBef>
                <a:spcPts val="0"/>
              </a:spcBef>
              <a:spcAft>
                <a:spcPts val="0"/>
              </a:spcAft>
              <a:buClr>
                <a:schemeClr val="lt1"/>
              </a:buClr>
              <a:buSzPts val="1000"/>
              <a:buChar char="●"/>
            </a:pPr>
            <a:r>
              <a:rPr lang="en" sz="1000">
                <a:solidFill>
                  <a:schemeClr val="lt1"/>
                </a:solidFill>
              </a:rPr>
              <a:t>DELETE /api/expenses/{id} - Delete expense, </a:t>
            </a:r>
            <a:endParaRPr sz="1000">
              <a:solidFill>
                <a:schemeClr val="lt1"/>
              </a:solidFill>
            </a:endParaRPr>
          </a:p>
          <a:p>
            <a:pPr indent="-292100" lvl="0" marL="457200" rtl="0" algn="l">
              <a:spcBef>
                <a:spcPts val="0"/>
              </a:spcBef>
              <a:spcAft>
                <a:spcPts val="0"/>
              </a:spcAft>
              <a:buClr>
                <a:schemeClr val="lt1"/>
              </a:buClr>
              <a:buSzPts val="1000"/>
              <a:buChar char="●"/>
            </a:pPr>
            <a:r>
              <a:rPr lang="en" sz="1000">
                <a:solidFill>
                  <a:schemeClr val="lt1"/>
                </a:solidFill>
              </a:rPr>
              <a:t>GET /api/stats - Get statistics</a:t>
            </a:r>
            <a:endParaRPr sz="1000">
              <a:solidFill>
                <a:schemeClr val="lt1"/>
              </a:solidFill>
            </a:endParaRPr>
          </a:p>
          <a:p>
            <a:pPr indent="0" lvl="0" marL="0" rtl="0" algn="l">
              <a:spcBef>
                <a:spcPts val="1200"/>
              </a:spcBef>
              <a:spcAft>
                <a:spcPts val="1200"/>
              </a:spcAft>
              <a:buNone/>
            </a:pPr>
            <a:r>
              <a:t/>
            </a:r>
            <a:endParaRPr sz="1100">
              <a:solidFill>
                <a:schemeClr val="lt1"/>
              </a:solidFill>
            </a:endParaRPr>
          </a:p>
        </p:txBody>
      </p:sp>
      <p:sp>
        <p:nvSpPr>
          <p:cNvPr id="69" name="Google Shape;69;p15"/>
          <p:cNvSpPr txBox="1"/>
          <p:nvPr/>
        </p:nvSpPr>
        <p:spPr>
          <a:xfrm>
            <a:off x="5123625" y="298175"/>
            <a:ext cx="30000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sz="1000">
              <a:solidFill>
                <a:schemeClr val="dk2"/>
              </a:solidFill>
            </a:endParaRPr>
          </a:p>
        </p:txBody>
      </p:sp>
      <p:pic>
        <p:nvPicPr>
          <p:cNvPr id="70" name="Google Shape;70;p15"/>
          <p:cNvPicPr preferRelativeResize="0"/>
          <p:nvPr/>
        </p:nvPicPr>
        <p:blipFill>
          <a:blip r:embed="rId3">
            <a:alphaModFix/>
          </a:blip>
          <a:stretch>
            <a:fillRect/>
          </a:stretch>
        </p:blipFill>
        <p:spPr>
          <a:xfrm>
            <a:off x="4913701" y="1321213"/>
            <a:ext cx="3918701" cy="306591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Process to Run, Test, and Verify</a:t>
            </a:r>
            <a:endParaRPr>
              <a:solidFill>
                <a:schemeClr val="lt1"/>
              </a:solidFill>
            </a:endParaRPr>
          </a:p>
        </p:txBody>
      </p:sp>
      <p:sp>
        <p:nvSpPr>
          <p:cNvPr id="76" name="Google Shape;76;p16"/>
          <p:cNvSpPr txBox="1"/>
          <p:nvPr>
            <p:ph idx="1" type="body"/>
          </p:nvPr>
        </p:nvSpPr>
        <p:spPr>
          <a:xfrm>
            <a:off x="311700" y="1152475"/>
            <a:ext cx="4260300" cy="2108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lt1"/>
                </a:solidFill>
              </a:rPr>
              <a:t>Prerequisite</a:t>
            </a:r>
            <a:endParaRPr>
              <a:solidFill>
                <a:schemeClr val="lt1"/>
              </a:solidFill>
            </a:endParaRPr>
          </a:p>
          <a:p>
            <a:pPr indent="-342900" lvl="0" marL="457200" rtl="0" algn="l">
              <a:spcBef>
                <a:spcPts val="1200"/>
              </a:spcBef>
              <a:spcAft>
                <a:spcPts val="0"/>
              </a:spcAft>
              <a:buClr>
                <a:schemeClr val="lt1"/>
              </a:buClr>
              <a:buSzPts val="1800"/>
              <a:buChar char="●"/>
            </a:pPr>
            <a:r>
              <a:rPr lang="en">
                <a:solidFill>
                  <a:schemeClr val="lt1"/>
                </a:solidFill>
              </a:rPr>
              <a:t>Java 17 or higher</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Maven 3.6 or higher</a:t>
            </a:r>
            <a:endParaRPr>
              <a:solidFill>
                <a:schemeClr val="lt1"/>
              </a:solidFill>
            </a:endParaRPr>
          </a:p>
          <a:p>
            <a:pPr indent="0" lvl="0" marL="0" rtl="0" algn="l">
              <a:spcBef>
                <a:spcPts val="1200"/>
              </a:spcBef>
              <a:spcAft>
                <a:spcPts val="0"/>
              </a:spcAft>
              <a:buNone/>
            </a:pPr>
            <a:r>
              <a:t/>
            </a:r>
            <a:endParaRPr>
              <a:solidFill>
                <a:schemeClr val="lt1"/>
              </a:solidFill>
            </a:endParaRPr>
          </a:p>
          <a:p>
            <a:pPr indent="0" lvl="0" marL="0" rtl="0" algn="l">
              <a:spcBef>
                <a:spcPts val="1200"/>
              </a:spcBef>
              <a:spcAft>
                <a:spcPts val="1200"/>
              </a:spcAft>
              <a:buNone/>
            </a:pPr>
            <a:r>
              <a:rPr lang="en">
                <a:solidFill>
                  <a:schemeClr val="lt1"/>
                </a:solidFill>
              </a:rPr>
              <a:t>Step 1</a:t>
            </a:r>
            <a:endParaRPr>
              <a:solidFill>
                <a:schemeClr val="lt1"/>
              </a:solidFill>
            </a:endParaRPr>
          </a:p>
        </p:txBody>
      </p:sp>
      <p:pic>
        <p:nvPicPr>
          <p:cNvPr id="77" name="Google Shape;77;p16"/>
          <p:cNvPicPr preferRelativeResize="0"/>
          <p:nvPr/>
        </p:nvPicPr>
        <p:blipFill>
          <a:blip r:embed="rId3">
            <a:alphaModFix/>
          </a:blip>
          <a:stretch>
            <a:fillRect/>
          </a:stretch>
        </p:blipFill>
        <p:spPr>
          <a:xfrm>
            <a:off x="835300" y="3260875"/>
            <a:ext cx="3213100" cy="1065800"/>
          </a:xfrm>
          <a:prstGeom prst="rect">
            <a:avLst/>
          </a:prstGeom>
          <a:noFill/>
          <a:ln>
            <a:noFill/>
          </a:ln>
        </p:spPr>
      </p:pic>
      <p:sp>
        <p:nvSpPr>
          <p:cNvPr id="78" name="Google Shape;78;p16"/>
          <p:cNvSpPr txBox="1"/>
          <p:nvPr>
            <p:ph idx="1" type="body"/>
          </p:nvPr>
        </p:nvSpPr>
        <p:spPr>
          <a:xfrm>
            <a:off x="4883700" y="1152475"/>
            <a:ext cx="4260300" cy="2108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chemeClr val="lt1"/>
                </a:solidFill>
              </a:rPr>
              <a:t>Step 2</a:t>
            </a:r>
            <a:endParaRPr>
              <a:solidFill>
                <a:schemeClr val="lt1"/>
              </a:solidFill>
            </a:endParaRPr>
          </a:p>
          <a:p>
            <a:pPr indent="0" lvl="0" marL="0" rtl="0" algn="l">
              <a:spcBef>
                <a:spcPts val="1200"/>
              </a:spcBef>
              <a:spcAft>
                <a:spcPts val="0"/>
              </a:spcAft>
              <a:buNone/>
            </a:pPr>
            <a:r>
              <a:t/>
            </a:r>
            <a:endParaRPr>
              <a:solidFill>
                <a:schemeClr val="lt1"/>
              </a:solidFill>
            </a:endParaRPr>
          </a:p>
          <a:p>
            <a:pPr indent="0" lvl="0" marL="0" rtl="0" algn="l">
              <a:spcBef>
                <a:spcPts val="1200"/>
              </a:spcBef>
              <a:spcAft>
                <a:spcPts val="0"/>
              </a:spcAft>
              <a:buNone/>
            </a:pPr>
            <a:r>
              <a:t/>
            </a:r>
            <a:endParaRPr>
              <a:solidFill>
                <a:schemeClr val="lt1"/>
              </a:solidFill>
            </a:endParaRPr>
          </a:p>
          <a:p>
            <a:pPr indent="0" lvl="0" marL="0" rtl="0" algn="l">
              <a:spcBef>
                <a:spcPts val="1200"/>
              </a:spcBef>
              <a:spcAft>
                <a:spcPts val="0"/>
              </a:spcAft>
              <a:buNone/>
            </a:pPr>
            <a:r>
              <a:t/>
            </a:r>
            <a:endParaRPr>
              <a:solidFill>
                <a:schemeClr val="lt1"/>
              </a:solidFill>
            </a:endParaRPr>
          </a:p>
          <a:p>
            <a:pPr indent="0" lvl="0" marL="0" rtl="0" algn="l">
              <a:spcBef>
                <a:spcPts val="1200"/>
              </a:spcBef>
              <a:spcAft>
                <a:spcPts val="1200"/>
              </a:spcAft>
              <a:buNone/>
            </a:pPr>
            <a:r>
              <a:rPr lang="en">
                <a:solidFill>
                  <a:schemeClr val="lt1"/>
                </a:solidFill>
              </a:rPr>
              <a:t>Step 3</a:t>
            </a:r>
            <a:endParaRPr>
              <a:solidFill>
                <a:schemeClr val="lt1"/>
              </a:solidFill>
            </a:endParaRPr>
          </a:p>
        </p:txBody>
      </p:sp>
      <p:pic>
        <p:nvPicPr>
          <p:cNvPr id="79" name="Google Shape;79;p16"/>
          <p:cNvPicPr preferRelativeResize="0"/>
          <p:nvPr/>
        </p:nvPicPr>
        <p:blipFill>
          <a:blip r:embed="rId4">
            <a:alphaModFix/>
          </a:blip>
          <a:stretch>
            <a:fillRect/>
          </a:stretch>
        </p:blipFill>
        <p:spPr>
          <a:xfrm>
            <a:off x="5350063" y="1673775"/>
            <a:ext cx="3327562" cy="1065800"/>
          </a:xfrm>
          <a:prstGeom prst="rect">
            <a:avLst/>
          </a:prstGeom>
          <a:noFill/>
          <a:ln>
            <a:noFill/>
          </a:ln>
        </p:spPr>
      </p:pic>
      <p:pic>
        <p:nvPicPr>
          <p:cNvPr id="80" name="Google Shape;80;p16"/>
          <p:cNvPicPr preferRelativeResize="0"/>
          <p:nvPr/>
        </p:nvPicPr>
        <p:blipFill>
          <a:blip r:embed="rId5">
            <a:alphaModFix/>
          </a:blip>
          <a:stretch>
            <a:fillRect/>
          </a:stretch>
        </p:blipFill>
        <p:spPr>
          <a:xfrm>
            <a:off x="5444837" y="3260875"/>
            <a:ext cx="3138025" cy="1442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Test Data and Seed Data</a:t>
            </a:r>
            <a:endParaRPr>
              <a:solidFill>
                <a:schemeClr val="lt1"/>
              </a:solidFill>
            </a:endParaRPr>
          </a:p>
        </p:txBody>
      </p:sp>
      <p:sp>
        <p:nvSpPr>
          <p:cNvPr id="86" name="Google Shape;86;p1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Seed data is automatically loaded when the application starts</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Data is read from data/expenses.csv file</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If file doesn't exist, application starts with empty expense list</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Seed data is parsed and added to in-memory storage</a:t>
            </a:r>
            <a:endParaRPr>
              <a:solidFill>
                <a:schemeClr val="lt1"/>
              </a:solidFill>
            </a:endParaRPr>
          </a:p>
        </p:txBody>
      </p:sp>
      <p:pic>
        <p:nvPicPr>
          <p:cNvPr id="87" name="Google Shape;87;p17"/>
          <p:cNvPicPr preferRelativeResize="0"/>
          <p:nvPr/>
        </p:nvPicPr>
        <p:blipFill>
          <a:blip r:embed="rId3">
            <a:alphaModFix/>
          </a:blip>
          <a:stretch>
            <a:fillRect/>
          </a:stretch>
        </p:blipFill>
        <p:spPr>
          <a:xfrm>
            <a:off x="4572000" y="1462775"/>
            <a:ext cx="4278775" cy="2795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1"/>
                </a:solidFill>
              </a:rPr>
              <a:t>Thank you!</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